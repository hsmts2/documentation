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d3a35a734e4d88" /><Relationship Type="http://schemas.openxmlformats.org/officeDocument/2006/relationships/extended-properties" Target="/docProps/app.xml" Id="R81b110a10c1f4273" /><Relationship Type="http://schemas.openxmlformats.org/officeDocument/2006/relationships/officeDocument" Target="/ppt/presentation.xml" Id="R27b49a431ca84b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c5af52d4d74b9d"/>
  </p:sldMasterIdLst>
  <p:notesMasterIdLst>
    <p:notesMasterId xmlns:r="http://schemas.openxmlformats.org/officeDocument/2006/relationships" r:id="R59d1605cf5544fde"/>
  </p:notesMasterIdLst>
  <p:sldIdLst>
    <p:sldId xmlns:r="http://schemas.openxmlformats.org/officeDocument/2006/relationships" id="256" r:id="Ra1bba41450a74a6d"/>
  </p:sldIdLst>
  <p:sldSz cx="123825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e862a1e4184b64" /><Relationship Type="http://schemas.openxmlformats.org/officeDocument/2006/relationships/slideMaster" Target="/ppt/slideMasters/slideMaster1.xml" Id="R47c5af52d4d74b9d" /><Relationship Type="http://schemas.openxmlformats.org/officeDocument/2006/relationships/notesMaster" Target="/ppt/notesMasters/notesMaster1.xml" Id="R59d1605cf5544fde" /><Relationship Type="http://schemas.openxmlformats.org/officeDocument/2006/relationships/presProps" Target="/ppt/presProps.xml" Id="R4b22e933608f4325" /><Relationship Type="http://schemas.openxmlformats.org/officeDocument/2006/relationships/tableStyles" Target="/ppt/tableStyles.xml" Id="R127348a81bca4022" /><Relationship Type="http://schemas.openxmlformats.org/officeDocument/2006/relationships/slide" Target="/ppt/slides/slide1.xml" Id="Ra1bba41450a74a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b2b01c82584a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c086273c9b4c14" /><Relationship Type="http://schemas.openxmlformats.org/officeDocument/2006/relationships/notesMaster" Target="/ppt/notesMasters/notesMaster1.xml" Id="Rd00583e5f8e248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アイコン出典：C:/Users/hsmts/Desktop/AWS-Architecture-Icons-Deck_For-Light-BG_01302026.pptx（39、71、79、91、103、139、154ページ）。構成根拠：AWS公式配布 v2.9.10 テンプレート、MultiAccountDeploymentCondition=false。スポーク登録用Lambda・SpokeAccountTableは対象外。UsageTable・UserSessionTableをDynamoDBで表現。監視対象はRegions設定に従い同一アカウントの対象リージョン。1 日次起動、2 利用状況取得と判定、3 状態保存・参照、4 CSV出力。VPC・NAT・IAM・デプロイ用カスタムリソース等の補助構成は省略。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1b0e382f746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780bcda3f140e2" /><Relationship Type="http://schemas.openxmlformats.org/officeDocument/2006/relationships/slideLayout" Target="/ppt/slideLayouts/slideLayout1.xml" Id="R488de3d729bc4f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8de3d729bc4f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7dcef2abd4847" /><Relationship Type="http://schemas.openxmlformats.org/officeDocument/2006/relationships/image" Target="/ppt/media/image.png" Id="R36be883902484429" /><Relationship Type="http://schemas.openxmlformats.org/officeDocument/2006/relationships/image" Target="/ppt/media/image2.png" Id="Rb9358573a7904ad4" /><Relationship Type="http://schemas.openxmlformats.org/officeDocument/2006/relationships/image" Target="/ppt/media/image3.png" Id="R0ddc2a2b8dba44c4" /><Relationship Type="http://schemas.openxmlformats.org/officeDocument/2006/relationships/image" Target="/ppt/media/image4.png" Id="Rb2cc7d13a03f4823" /><Relationship Type="http://schemas.openxmlformats.org/officeDocument/2006/relationships/image" Target="/ppt/media/image5.png" Id="R458ed1a6af044ae1" /><Relationship Type="http://schemas.openxmlformats.org/officeDocument/2006/relationships/image" Target="/ppt/media/image6.png" Id="R0424f770870e4657" /><Relationship Type="http://schemas.openxmlformats.org/officeDocument/2006/relationships/image" Target="/ppt/media/image7.png" Id="Re75d78ac9b6f4555" /><Relationship Type="http://schemas.openxmlformats.org/officeDocument/2006/relationships/notesSlide" Target="/ppt/notesSlides/notesSlide1.xml" Id="R55966aca083a4f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F803B0-FDE1-44BE-8D96-5E873A10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32F3E"/>
                </a:solidFill>
                <a:latin typeface="Meiryo"/>
                <a:ea typeface="Meiryo"/>
                <a:cs typeface="Meiryo"/>
              </a:rPr>
              <a:t>Cost Optimizer for Amazon WorkSpaces　ハブアカウント構成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19135-0095-4DAA-B80E-E938D0F4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620500" cy="62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E7157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9EA28-31AB-4614-9938-FB00235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157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E7157B"/>
                </a:solidFill>
                <a:latin typeface="Meiryo"/>
                <a:ea typeface="Meiryo"/>
                <a:cs typeface="Meiryo"/>
              </a:rPr>
              <a:t>ハブアカウント（単一AWSアカウント）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682A3-939E-4BB2-BD00-99F9DB01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1144250" cy="334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65768A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8EF1A-989C-42CB-91BB-E19CA7AC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68A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68A"/>
                </a:solidFill>
                <a:latin typeface="Meiryo"/>
                <a:ea typeface="Meiryo"/>
                <a:cs typeface="Meiryo"/>
              </a:rPr>
              <a:t>ソリューション配置リージョン：アジアパシフィック（東京）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e883902484429"/>
          <a:stretch xmlns:a="http://schemas.openxmlformats.org/drawingml/2006/main"/>
        </p:blipFill>
        <p:spPr>
          <a:xfrm xmlns:a="http://schemas.openxmlformats.org/drawingml/2006/main">
            <a:off x="5572125" y="20002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3B705-D29C-4E9D-AA7A-AC086A4B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Amazon DynamoDB</a:t>
            </a:r>
          </a:p>
          <a:p xmlns:a="http://schemas.openxmlformats.org/drawingml/2006/main">
            <a:pPr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利用状況・セッション情報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A2E9D-B49E-46A3-A7E4-32C0F33C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9240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58573a7904ad4"/>
          <a:stretch xmlns:a="http://schemas.openxmlformats.org/drawingml/2006/main"/>
        </p:blipFill>
        <p:spPr>
          <a:xfrm xmlns:a="http://schemas.openxmlformats.org/drawingml/2006/main">
            <a:off x="2095500" y="334327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CA462-5EE5-412F-9E4E-0D3A8A54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671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Amazon EventBridge</a:t>
            </a:r>
          </a:p>
          <a:p xmlns:a="http://schemas.openxmlformats.org/drawingml/2006/main">
            <a:pPr algn="ctr"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日次実行ルール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B80D0-85CC-44BE-A1B5-E54790F3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670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c2a2b8dba44c4"/>
          <a:stretch xmlns:a="http://schemas.openxmlformats.org/drawingml/2006/main"/>
        </p:blipFill>
        <p:spPr>
          <a:xfrm xmlns:a="http://schemas.openxmlformats.org/drawingml/2006/main">
            <a:off x="5572125" y="334327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1FBFC-9B15-4A24-81EF-B8978BEF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386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Amazon ECSタスク</a:t>
            </a:r>
          </a:p>
          <a:p xmlns:a="http://schemas.openxmlformats.org/drawingml/2006/main">
            <a:pPr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AWS Fargate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77165-F94E-485E-98D1-C02C284A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670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c7d13a03f4823"/>
          <a:stretch xmlns:a="http://schemas.openxmlformats.org/drawingml/2006/main"/>
        </p:blipFill>
        <p:spPr>
          <a:xfrm xmlns:a="http://schemas.openxmlformats.org/drawingml/2006/main">
            <a:off x="9906000" y="334327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5B517-2D79-4716-A112-65F6D073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0671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Amazon S3</a:t>
            </a:r>
          </a:p>
          <a:p xmlns:a="http://schemas.openxmlformats.org/drawingml/2006/main">
            <a:pPr algn="ctr"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CSVレポート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D2529-A14B-4EFD-AB46-53DD1612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670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781300" y="3648075"/>
            <a:ext cx="2714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68A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55223-CC89-42FF-BA78-145173D2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2575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cxnSp>
        <p:nvCxnSpPr>
          <p:cNvPr id="61" name=""/>
          <p:cNvCxnSpPr>
            <a:stCxn xmlns:a="http://schemas.openxmlformats.org/drawingml/2006/main" id="14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5876925" y="26860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68A"/>
            </a:solidFill>
            <a:headEnd type="arrow" w="med" len="me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16617-8AC2-4F2B-A31A-5012699B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908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257925" y="364807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68A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2A816-B069-40A0-86B9-7C82BA30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C21C65-9C58-4C32-A003-704861E9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861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68A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65768A"/>
                </a:solidFill>
                <a:latin typeface="Meiryo"/>
                <a:ea typeface="Meiryo"/>
                <a:cs typeface="Meiryo"/>
              </a:rPr>
              <a:t>判定結果を保存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56B9C0-3DCC-48A7-8C7B-443FBB8A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19700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65768A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DEE19-3565-438E-8D57-6C21D4F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1495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68A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68A"/>
                </a:solidFill>
                <a:latin typeface="Meiryo"/>
                <a:ea typeface="Meiryo"/>
                <a:cs typeface="Meiryo"/>
              </a:rPr>
              <a:t>同一アカウントの監視対象（対象リージョン）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ed1a6af044ae1"/>
          <a:stretch xmlns:a="http://schemas.openxmlformats.org/drawingml/2006/main"/>
        </p:blipFill>
        <p:spPr>
          <a:xfrm xmlns:a="http://schemas.openxmlformats.org/drawingml/2006/main">
            <a:off x="2400300" y="578167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18FAEA-4A0C-4088-AAD2-0BBEB1F0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5055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AWS Directory</a:t>
            </a:r>
          </a:p>
          <a:p xmlns:a="http://schemas.openxmlformats.org/drawingml/2006/main">
            <a:pPr algn="ctr"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8756F4-F2D4-43FD-9A83-AD32F506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054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4f770870e4657"/>
          <a:stretch xmlns:a="http://schemas.openxmlformats.org/drawingml/2006/main"/>
        </p:blipFill>
        <p:spPr>
          <a:xfrm xmlns:a="http://schemas.openxmlformats.org/drawingml/2006/main">
            <a:off x="4391025" y="578167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55CC7F-C75C-4061-BC4C-70044860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055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Amazon</a:t>
            </a:r>
          </a:p>
          <a:p xmlns:a="http://schemas.openxmlformats.org/drawingml/2006/main">
            <a:pPr algn="ctr"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WorkSpaces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6322AF-8EAA-42E4-9462-B18317C1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7054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d78ac9b6f4555"/>
          <a:stretch xmlns:a="http://schemas.openxmlformats.org/drawingml/2006/main"/>
        </p:blipFill>
        <p:spPr>
          <a:xfrm xmlns:a="http://schemas.openxmlformats.org/drawingml/2006/main">
            <a:off x="6438900" y="578167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629B52-7A42-4425-B1AB-00C3729B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5055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Amazon</a:t>
            </a:r>
          </a:p>
          <a:p xmlns:a="http://schemas.openxmlformats.org/drawingml/2006/main">
            <a:pPr algn="ctr">
              <a:defRPr sz="1575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CloudWatch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F30522-1A4F-47DF-A2D6-48924AEB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054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912D81-520C-4D11-9452-4FAF11C9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1333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noFill/>
            <a:prstDash val="solid"/>
          </a:ln>
        </p:spPr>
      </p:sp>
      <p:cxnSp>
        <p:nvCxnSpPr>
          <p:cNvPr id="78" name=""/>
          <p:cNvCxnSpPr>
            <a:stCxn xmlns:a="http://schemas.openxmlformats.org/drawingml/2006/main" id="1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5876925" y="40290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68A"/>
            </a:solidFill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4A907A-0B10-425C-BED0-299A253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006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3BA03D-F8A7-4FBC-9385-E246BDC9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291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68A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5768A"/>
                </a:solidFill>
                <a:latin typeface="Meiryo"/>
                <a:ea typeface="Meiryo"/>
                <a:cs typeface="Meiryo"/>
              </a:rPr>
              <a:t>利用状況取得・課金モード判定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C47023-A33F-40CF-B150-7FAF4AE3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38162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Dry Run有効時は</a:t>
            </a:r>
          </a:p>
          <a:p xmlns:a="http://schemas.openxmlformats.org/drawingml/2006/main">
            <a:pPr>
              <a:defRPr sz="1500" b="0">
                <a:solidFill>
                  <a:srgbClr val="232F3E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232F3E"/>
                </a:solidFill>
                <a:latin typeface="Meiryo"/>
                <a:ea typeface="Meiryo"/>
                <a:cs typeface="Meiryo"/>
              </a:rPr>
              <a:t>判定結果の出力のみ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7A2EAD-8846-472C-96EC-DBFAA69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86625"/>
            <a:ext cx="1162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68A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5768A"/>
                </a:solidFill>
                <a:latin typeface="Meiryo"/>
                <a:ea typeface="Meiryo"/>
                <a:cs typeface="Meiryo"/>
              </a:rPr>
              <a:t>Cost Optimizer v2.9.10　アイコン：AWS Architecture Icons（2026-01-30）</a:t>
            </a:r>
          </a:p>
        </p:txBody>
      </p:sp>
    </p:spTree>
    <p:extLst>
      <p:ext uri="{BB962C8B-B14F-4D97-AF65-F5344CB8AC3E}">
        <p14:creationId xmlns:p14="http://schemas.microsoft.com/office/powerpoint/2010/main" val="1976818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2026-09-11T21:00:06.2070000Z</dcterms:created>
  <dcterms:modified xsi:type="dcterms:W3CDTF">2026-09-11T21:00:06.2070000Z</dcterms:modified>
</coreProperties>
</file>