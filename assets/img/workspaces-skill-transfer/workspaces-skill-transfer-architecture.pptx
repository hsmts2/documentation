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65dd89ed184859" /><Relationship Type="http://schemas.openxmlformats.org/officeDocument/2006/relationships/extended-properties" Target="/docProps/app.xml" Id="R7f2e8935bb564765" /><Relationship Type="http://schemas.openxmlformats.org/officeDocument/2006/relationships/officeDocument" Target="/ppt/presentation.xml" Id="R177cf33aa8b448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f567d7205649cb"/>
  </p:sldMasterIdLst>
  <p:notesMasterIdLst>
    <p:notesMasterId xmlns:r="http://schemas.openxmlformats.org/officeDocument/2006/relationships" r:id="R1cc9331c1a404a35"/>
  </p:notesMasterIdLst>
  <p:sldIdLst>
    <p:sldId xmlns:r="http://schemas.openxmlformats.org/officeDocument/2006/relationships" id="256" r:id="R6b1ec3280c964d9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41e41e022c4378" /><Relationship Type="http://schemas.openxmlformats.org/officeDocument/2006/relationships/slideMaster" Target="/ppt/slideMasters/slideMaster1.xml" Id="R34f567d7205649cb" /><Relationship Type="http://schemas.openxmlformats.org/officeDocument/2006/relationships/notesMaster" Target="/ppt/notesMasters/notesMaster1.xml" Id="R1cc9331c1a404a35" /><Relationship Type="http://schemas.openxmlformats.org/officeDocument/2006/relationships/presProps" Target="/ppt/presProps.xml" Id="R261499bc1e9a47de" /><Relationship Type="http://schemas.openxmlformats.org/officeDocument/2006/relationships/tableStyles" Target="/ppt/tableStyles.xml" Id="R92e11737d7f24058" /><Relationship Type="http://schemas.openxmlformats.org/officeDocument/2006/relationships/slide" Target="/ppt/slides/slide1.xml" Id="R6b1ec3280c964d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fd6a3c9c414b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957248a3f0462b" /><Relationship Type="http://schemas.openxmlformats.org/officeDocument/2006/relationships/notesMaster" Target="/ppt/notesMasters/notesMaster1.xml" Id="R230290ff37944f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C:\Users\hsmts\OneDrive\画像\スキルトランスファー\00_全体構築作業順序.md</a:t>
            </a:r>
          </a:p>
          <a:p xmlns:a="http://schemas.openxmlformats.org/drawingml/2006/main">
            <a:r>
              <a:t>Source: C:\Users\hsmts\Desktop\大規模WorkSpacesNW構成図_20251031.pptx</a:t>
            </a:r>
          </a:p>
          <a:p xmlns:a="http://schemas.openxmlformats.org/drawingml/2006/main">
            <a:r>
              <a:t>AWS group conventions and icons: C:\Users\hsmts\Desktop\AWS-Architecture-Icons-Deck_For-Light-BG_01302026.pptx</a:t>
            </a:r>
          </a:p>
          <a:p xmlns:a="http://schemas.openxmlformats.org/drawingml/2006/main">
            <a:r>
              <a:t>NAT Gateway and Internet Gateway are shown as the per-AZ internet egress path for private WorkSpaces subnets.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4d8bf839e43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4a32e75e04d18" /><Relationship Type="http://schemas.openxmlformats.org/officeDocument/2006/relationships/slideLayout" Target="/ppt/slideLayouts/slideLayout1.xml" Id="R43d35e804e4448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d35e804e4448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0615ad3954e66" /><Relationship Type="http://schemas.openxmlformats.org/officeDocument/2006/relationships/image" Target="/ppt/media/image.png" Id="Re03545816f494d54" /><Relationship Type="http://schemas.openxmlformats.org/officeDocument/2006/relationships/image" Target="/ppt/media/image.svg" Id="Reff4e4062b92482c" /><Relationship Type="http://schemas.openxmlformats.org/officeDocument/2006/relationships/image" Target="/ppt/media/image2.png" Id="R3bf6d8fce5db4c4d" /><Relationship Type="http://schemas.openxmlformats.org/officeDocument/2006/relationships/image" Target="/ppt/media/image2.svg" Id="R5e4df88ed8b24230" /><Relationship Type="http://schemas.openxmlformats.org/officeDocument/2006/relationships/image" Target="/ppt/media/image3.png" Id="R837d5379085946d5" /><Relationship Type="http://schemas.openxmlformats.org/officeDocument/2006/relationships/image" Target="/ppt/media/image3.svg" Id="R5536395779164095" /><Relationship Type="http://schemas.openxmlformats.org/officeDocument/2006/relationships/image" Target="/ppt/media/image4.png" Id="R96ce171f2508485a" /><Relationship Type="http://schemas.openxmlformats.org/officeDocument/2006/relationships/image" Target="/ppt/media/image4.svg" Id="R0031a72b206840a5" /><Relationship Type="http://schemas.openxmlformats.org/officeDocument/2006/relationships/image" Target="/ppt/media/image5.png" Id="Rba551daa5f8c4057" /><Relationship Type="http://schemas.openxmlformats.org/officeDocument/2006/relationships/image" Target="/ppt/media/image5.svg" Id="R4abc3b6c52224292" /><Relationship Type="http://schemas.openxmlformats.org/officeDocument/2006/relationships/image" Target="/ppt/media/image6.png" Id="R484b6f06a8ba42af" /><Relationship Type="http://schemas.openxmlformats.org/officeDocument/2006/relationships/image" Target="/ppt/media/image6.svg" Id="R0ad93691a3554eb7" /><Relationship Type="http://schemas.openxmlformats.org/officeDocument/2006/relationships/image" Target="/ppt/media/image7.png" Id="R1a525ccce86a4509" /><Relationship Type="http://schemas.openxmlformats.org/officeDocument/2006/relationships/image" Target="/ppt/media/image7.svg" Id="R84a5e1fdd967415f" /><Relationship Type="http://schemas.openxmlformats.org/officeDocument/2006/relationships/image" Target="/ppt/media/image8.png" Id="R7843d1bba31341bf" /><Relationship Type="http://schemas.openxmlformats.org/officeDocument/2006/relationships/image" Target="/ppt/media/image8.svg" Id="Rce3f83c402fa4d22" /><Relationship Type="http://schemas.openxmlformats.org/officeDocument/2006/relationships/image" Target="/ppt/media/image9.png" Id="R5e6e91a7001c4ab4" /><Relationship Type="http://schemas.openxmlformats.org/officeDocument/2006/relationships/image" Target="/ppt/media/image9.svg" Id="R6f1aa2a7b9d34c5d" /><Relationship Type="http://schemas.openxmlformats.org/officeDocument/2006/relationships/image" Target="/ppt/media/image10.png" Id="R23859b6bba3b49bc" /><Relationship Type="http://schemas.openxmlformats.org/officeDocument/2006/relationships/image" Target="/ppt/media/image10.svg" Id="Rb5dfc729fc3d4781" /><Relationship Type="http://schemas.openxmlformats.org/officeDocument/2006/relationships/image" Target="/ppt/media/image11.png" Id="R9a0d15c7061c458d" /><Relationship Type="http://schemas.openxmlformats.org/officeDocument/2006/relationships/image" Target="/ppt/media/image11.svg" Id="R08b051b3583c42b1" /><Relationship Type="http://schemas.openxmlformats.org/officeDocument/2006/relationships/image" Target="/ppt/media/image12.png" Id="R312e777d5f1c49d8" /><Relationship Type="http://schemas.openxmlformats.org/officeDocument/2006/relationships/image" Target="/ppt/media/image12.svg" Id="R7a7de9bd6d6c4f91" /><Relationship Type="http://schemas.openxmlformats.org/officeDocument/2006/relationships/image" Target="/ppt/media/image13.png" Id="R2452b56b94bb47a3" /><Relationship Type="http://schemas.openxmlformats.org/officeDocument/2006/relationships/image" Target="/ppt/media/image13.svg" Id="R02625ffcbf9a4aef" /><Relationship Type="http://schemas.openxmlformats.org/officeDocument/2006/relationships/image" Target="/ppt/media/image14.png" Id="R6f741a2d64bd4835" /><Relationship Type="http://schemas.openxmlformats.org/officeDocument/2006/relationships/image" Target="/ppt/media/image14.svg" Id="Redd510338e654384" /><Relationship Type="http://schemas.openxmlformats.org/officeDocument/2006/relationships/image" Target="/ppt/media/image15.png" Id="Red5ade2dd4a741dd" /><Relationship Type="http://schemas.openxmlformats.org/officeDocument/2006/relationships/image" Target="/ppt/media/image15.svg" Id="Ra7346d87fac94fa7" /><Relationship Type="http://schemas.openxmlformats.org/officeDocument/2006/relationships/image" Target="/ppt/media/image16.png" Id="Rf289a55113064d07" /><Relationship Type="http://schemas.openxmlformats.org/officeDocument/2006/relationships/image" Target="/ppt/media/image16.svg" Id="Rcc8da355bf7a46a9" /><Relationship Type="http://schemas.openxmlformats.org/officeDocument/2006/relationships/image" Target="/ppt/media/image17.png" Id="R0fec1ec3ec5c4d3e" /><Relationship Type="http://schemas.openxmlformats.org/officeDocument/2006/relationships/image" Target="/ppt/media/image17.svg" Id="R77c53622849f4d62" /><Relationship Type="http://schemas.openxmlformats.org/officeDocument/2006/relationships/image" Target="/ppt/media/image18.png" Id="R40048525bc35484c" /><Relationship Type="http://schemas.openxmlformats.org/officeDocument/2006/relationships/image" Target="/ppt/media/image18.svg" Id="Rd6683f81dcfd4318" /><Relationship Type="http://schemas.openxmlformats.org/officeDocument/2006/relationships/image" Target="/ppt/media/image19.png" Id="Re79e4a27f6b34f32" /><Relationship Type="http://schemas.openxmlformats.org/officeDocument/2006/relationships/image" Target="/ppt/media/image19.svg" Id="R1b016e35b48549fd" /><Relationship Type="http://schemas.openxmlformats.org/officeDocument/2006/relationships/image" Target="/ppt/media/image20.png" Id="Ra68b7c4db8f849d2" /><Relationship Type="http://schemas.openxmlformats.org/officeDocument/2006/relationships/image" Target="/ppt/media/image20.svg" Id="R23546fa53add4a4c" /><Relationship Type="http://schemas.openxmlformats.org/officeDocument/2006/relationships/image" Target="/ppt/media/image21.png" Id="R8c5929a495854450" /><Relationship Type="http://schemas.openxmlformats.org/officeDocument/2006/relationships/image" Target="/ppt/media/image21.svg" Id="R5de7c4860df94e32" /><Relationship Type="http://schemas.openxmlformats.org/officeDocument/2006/relationships/image" Target="/ppt/media/image22.png" Id="R9f35a7531bed49d0" /><Relationship Type="http://schemas.openxmlformats.org/officeDocument/2006/relationships/image" Target="/ppt/media/image22.svg" Id="R2ab08e60994e449d" /><Relationship Type="http://schemas.openxmlformats.org/officeDocument/2006/relationships/notesSlide" Target="/ppt/notesSlides/notesSlide1.xml" Id="Rddd68b6629f440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title">
            <a:extLst xmlns:a="http://schemas.openxmlformats.org/drawingml/2006/main">
              <a:ext uri="{FF2B5EF4-FFF2-40B4-BE49-F238E27FC236}">
                <a16:creationId xmlns:a16="http://schemas.microsoft.com/office/drawing/2014/main" id="{C2C1677D-AFD9-42B6-8508-414E36B6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Amazon WorkSpaces 技術移管 — 検証構成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BA33DFB-300F-4F30-85C8-9EDC6EE7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90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認証基盤とデスクトップ基盤をVPCで分離し、VPC Peering経由でActive Directoryへ接続</a:t>
            </a:r>
          </a:p>
        </p:txBody>
      </p:sp>
      <p:sp>
        <p:nvSpPr>
          <p:cNvPr id="3" name="aws-cloud">
            <a:extLst xmlns:a="http://schemas.openxmlformats.org/drawingml/2006/main">
              <a:ext uri="{FF2B5EF4-FFF2-40B4-BE49-F238E27FC236}">
                <a16:creationId xmlns:a16="http://schemas.microsoft.com/office/drawing/2014/main" id="{0922181A-0E0E-4474-BBE9-94E9D90F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145923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2F3E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545816f494d54">
            <a:extLst>
              <a:ext uri="{96DAC541-7B7A-43D3-8B79-37D633B846F1}">
                <asvg:svgBlip xmlns:asvg="http://schemas.microsoft.com/office/drawing/2016/SVG/main" r:embed="Reff4e4062b9248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144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7B6C83-1BC1-4851-A6A9-E41518D7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954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2F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2F3E"/>
                </a:solidFill>
                <a:latin typeface="Arial"/>
                <a:ea typeface="Arial"/>
                <a:cs typeface="Arial"/>
              </a:rPr>
              <a:t>AWS Cloud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6d8fce5db4c4d">
            <a:extLst>
              <a:ext uri="{96DAC541-7B7A-43D3-8B79-37D633B846F1}">
                <asvg:svgBlip xmlns:asvg="http://schemas.microsoft.com/office/drawing/2016/SVG/main" r:embed="R5e4df88ed8b242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13144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220701-EFB5-4E08-BA7F-A44A74E1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295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Asia Pacific (Tokyo) / ap-northeast-1</a:t>
            </a:r>
          </a:p>
        </p:txBody>
      </p:sp>
      <p:sp>
        <p:nvSpPr>
          <p:cNvPr id="8" name="directory-vpc">
            <a:extLst xmlns:a="http://schemas.openxmlformats.org/drawingml/2006/main">
              <a:ext uri="{FF2B5EF4-FFF2-40B4-BE49-F238E27FC236}">
                <a16:creationId xmlns:a16="http://schemas.microsoft.com/office/drawing/2014/main" id="{DA53BABD-502F-4D31-85C1-1418C5E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6197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F"/>
          </a:solidFill>
          <a:ln xmlns:a="http://schemas.openxmlformats.org/drawingml/2006/main" w="28575">
            <a:solidFill>
              <a:srgbClr val="8A5CF5"/>
            </a:solidFill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d5379085946d5">
            <a:extLst>
              <a:ext uri="{96DAC541-7B7A-43D3-8B79-37D633B846F1}">
                <asvg:svgBlip xmlns:asvg="http://schemas.microsoft.com/office/drawing/2016/SVG/main" r:embed="R55363957791640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1962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50F7F2-0BD0-4077-ADFF-34ADA49F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52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5C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5CF5"/>
                </a:solidFill>
                <a:latin typeface="Arial"/>
                <a:ea typeface="Arial"/>
                <a:cs typeface="Arial"/>
              </a:rPr>
              <a:t>共通ディレクトリVPC  192.168.225.0/24</a:t>
            </a:r>
          </a:p>
        </p:txBody>
      </p:sp>
      <p:sp>
        <p:nvSpPr>
          <p:cNvPr id="11" name="directory-az-a">
            <a:extLst xmlns:a="http://schemas.openxmlformats.org/drawingml/2006/main">
              <a:ext uri="{FF2B5EF4-FFF2-40B4-BE49-F238E27FC236}">
                <a16:creationId xmlns:a16="http://schemas.microsoft.com/office/drawing/2014/main" id="{8F04548D-63F6-4528-AEB1-5607DD2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5336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A4A6"/>
            </a:solidFill>
            <a:prstDash val="dash"/>
          </a:ln>
        </p:spPr>
      </p:sp>
      <p:sp>
        <p:nvSpPr>
          <p:cNvPr id="12" name="directory-az-a-flag-pole">
            <a:extLst xmlns:a="http://schemas.openxmlformats.org/drawingml/2006/main">
              <a:ext uri="{FF2B5EF4-FFF2-40B4-BE49-F238E27FC236}">
                <a16:creationId xmlns:a16="http://schemas.microsoft.com/office/drawing/2014/main" id="{2FCE5273-4820-4DD5-93BA-E13060A0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955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irectory-az-a-flag">
            <a:extLst xmlns:a="http://schemas.openxmlformats.org/drawingml/2006/main">
              <a:ext uri="{FF2B5EF4-FFF2-40B4-BE49-F238E27FC236}">
                <a16:creationId xmlns:a16="http://schemas.microsoft.com/office/drawing/2014/main" id="{00708E94-CAA8-4302-8D5D-0CE2B7AD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238125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4A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25A3559-9FCA-4359-A646-5F72E44C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574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Availability Zone A</a:t>
            </a:r>
          </a:p>
        </p:txBody>
      </p:sp>
      <p:sp>
        <p:nvSpPr>
          <p:cNvPr id="15" name="directory-az-c">
            <a:extLst xmlns:a="http://schemas.openxmlformats.org/drawingml/2006/main">
              <a:ext uri="{FF2B5EF4-FFF2-40B4-BE49-F238E27FC236}">
                <a16:creationId xmlns:a16="http://schemas.microsoft.com/office/drawing/2014/main" id="{D5511AF4-1CFB-4B3E-96E0-E04F5074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4384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A4A6"/>
            </a:solidFill>
            <a:prstDash val="dash"/>
          </a:ln>
        </p:spPr>
      </p:sp>
      <p:sp>
        <p:nvSpPr>
          <p:cNvPr id="16" name="directory-az-c-flag-pole">
            <a:extLst xmlns:a="http://schemas.openxmlformats.org/drawingml/2006/main">
              <a:ext uri="{FF2B5EF4-FFF2-40B4-BE49-F238E27FC236}">
                <a16:creationId xmlns:a16="http://schemas.microsoft.com/office/drawing/2014/main" id="{986A591E-6E80-4145-BE7A-951C0AE6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955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irectory-az-c-flag">
            <a:extLst xmlns:a="http://schemas.openxmlformats.org/drawingml/2006/main">
              <a:ext uri="{FF2B5EF4-FFF2-40B4-BE49-F238E27FC236}">
                <a16:creationId xmlns:a16="http://schemas.microsoft.com/office/drawing/2014/main" id="{BEB4DA11-9F80-4C74-A348-EEEE901D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238125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4A6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BFA41E-525C-4558-9559-66744D2D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Availability Zone C</a:t>
            </a:r>
          </a:p>
        </p:txBody>
      </p:sp>
      <p:sp>
        <p:nvSpPr>
          <p:cNvPr id="19" name="directory-private-a">
            <a:extLst xmlns:a="http://schemas.openxmlformats.org/drawingml/2006/main">
              <a:ext uri="{FF2B5EF4-FFF2-40B4-BE49-F238E27FC236}">
                <a16:creationId xmlns:a16="http://schemas.microsoft.com/office/drawing/2014/main" id="{12FBEBDB-4F73-4359-A64D-110D69EA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2288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B"/>
          </a:solidFill>
          <a:ln xmlns:a="http://schemas.openxmlformats.org/drawingml/2006/main" w="23813">
            <a:solidFill>
              <a:srgbClr val="00A4A6"/>
            </a:solidFill>
            <a:prstDash val="dash"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e171f2508485a">
            <a:extLst>
              <a:ext uri="{96DAC541-7B7A-43D3-8B79-37D633B846F1}">
                <asvg:svgBlip xmlns:asvg="http://schemas.microsoft.com/office/drawing/2016/SVG/main" r:embed="R0031a72b206840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6325" y="29241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0D13F38-90C5-4DA4-A0B5-89498846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0512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4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4A6"/>
                </a:solidFill>
                <a:latin typeface="Arial"/>
                <a:ea typeface="Arial"/>
                <a:cs typeface="Arial"/>
              </a:rPr>
              <a:t>Private Subnet A</a:t>
            </a:r>
          </a:p>
        </p:txBody>
      </p:sp>
      <p:sp>
        <p:nvSpPr>
          <p:cNvPr id="22" name="directory-private-c">
            <a:extLst xmlns:a="http://schemas.openxmlformats.org/drawingml/2006/main">
              <a:ext uri="{FF2B5EF4-FFF2-40B4-BE49-F238E27FC236}">
                <a16:creationId xmlns:a16="http://schemas.microsoft.com/office/drawing/2014/main" id="{90FFBDC4-1718-4B04-9022-6147D60B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1336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B"/>
          </a:solidFill>
          <a:ln xmlns:a="http://schemas.openxmlformats.org/drawingml/2006/main" w="23813">
            <a:solidFill>
              <a:srgbClr val="00A4A6"/>
            </a:solidFill>
            <a:prstDash val="dash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51daa5f8c4057">
            <a:extLst>
              <a:ext uri="{96DAC541-7B7A-43D3-8B79-37D633B846F1}">
                <asvg:svgBlip xmlns:asvg="http://schemas.microsoft.com/office/drawing/2016/SVG/main" r:embed="R4abc3b6c522242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00475" y="29241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BB1D717-BBC6-4278-9855-5F2DF4D6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051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4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4A6"/>
                </a:solidFill>
                <a:latin typeface="Arial"/>
                <a:ea typeface="Arial"/>
                <a:cs typeface="Arial"/>
              </a:rPr>
              <a:t>Private Subnet C</a:t>
            </a:r>
          </a:p>
        </p:txBody>
      </p:sp>
      <p:sp>
        <p:nvSpPr>
          <p:cNvPr id="25" name="managed-ad-dc1">
            <a:extLst xmlns:a="http://schemas.openxmlformats.org/drawingml/2006/main">
              <a:ext uri="{FF2B5EF4-FFF2-40B4-BE49-F238E27FC236}">
                <a16:creationId xmlns:a16="http://schemas.microsoft.com/office/drawing/2014/main" id="{60384462-900B-4756-9D6C-B9DE9680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1885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2B4A"/>
            </a:solidFill>
            <a:prstDash val="solid"/>
          </a:ln>
        </p:spPr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b6f06a8ba42af">
            <a:extLst>
              <a:ext uri="{96DAC541-7B7A-43D3-8B79-37D633B846F1}">
                <asvg:svgBlip xmlns:asvg="http://schemas.microsoft.com/office/drawing/2016/SVG/main" r:embed="R0ad93691a3554e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47775" y="35909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CD67511-5886-4CE8-934E-C7BB0F59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Managed Microsoft AD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D424ED8-540A-4A16-A195-6962152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4001"/>
            <a:ext cx="1162050" cy="344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Domain Controller 1</a:t>
            </a:r>
          </a:p>
        </p:txBody>
      </p:sp>
      <p:sp>
        <p:nvSpPr>
          <p:cNvPr id="29" name="managed-ad-dc2">
            <a:extLst xmlns:a="http://schemas.openxmlformats.org/drawingml/2006/main">
              <a:ext uri="{FF2B5EF4-FFF2-40B4-BE49-F238E27FC236}">
                <a16:creationId xmlns:a16="http://schemas.microsoft.com/office/drawing/2014/main" id="{C7E80FF0-38BF-4E5E-AAF4-A6AE368F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2B4A"/>
            </a:solidFill>
            <a:prstDash val="solid"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25ccce86a4509">
            <a:extLst>
              <a:ext uri="{96DAC541-7B7A-43D3-8B79-37D633B846F1}">
                <asvg:svgBlip xmlns:asvg="http://schemas.microsoft.com/office/drawing/2016/SVG/main" r:embed="R84a5e1fdd96741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71925" y="35909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820974F-DA93-433F-99AC-FCF8F5CC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106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Managed Microsoft AD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FF72B70-228A-4E9B-B356-7062230F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4001"/>
            <a:ext cx="1066800" cy="344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8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Domain Controller 2</a:t>
            </a:r>
          </a:p>
        </p:txBody>
      </p:sp>
      <p:sp>
        <p:nvSpPr>
          <p:cNvPr id="33" name="management-ec2">
            <a:extLst xmlns:a="http://schemas.openxmlformats.org/drawingml/2006/main">
              <a:ext uri="{FF2B5EF4-FFF2-40B4-BE49-F238E27FC236}">
                <a16:creationId xmlns:a16="http://schemas.microsoft.com/office/drawing/2014/main" id="{73114314-B25D-4821-90AE-3985D8B1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1885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9900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3d1bba31341bf">
            <a:extLst>
              <a:ext uri="{96DAC541-7B7A-43D3-8B79-37D633B846F1}">
                <asvg:svgBlip xmlns:asvg="http://schemas.microsoft.com/office/drawing/2016/SVG/main" r:embed="Rce3f83c402fa4d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47775" y="5000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FDFF31C-70FD-48FD-A64B-F2534CB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86325"/>
            <a:ext cx="116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管理用EC2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C158B61-259E-4E97-9E11-73368599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23701"/>
            <a:ext cx="1162050" cy="344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ADUC / GPMC</a:t>
            </a:r>
          </a:p>
        </p:txBody>
      </p:sp>
      <p:sp>
        <p:nvSpPr>
          <p:cNvPr id="37" name="workspaces-vpc">
            <a:extLst xmlns:a="http://schemas.openxmlformats.org/drawingml/2006/main">
              <a:ext uri="{FF2B5EF4-FFF2-40B4-BE49-F238E27FC236}">
                <a16:creationId xmlns:a16="http://schemas.microsoft.com/office/drawing/2014/main" id="{D122F3BD-5558-4AF3-B17C-4C85D4A3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85950"/>
            <a:ext cx="58293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F"/>
          </a:solidFill>
          <a:ln xmlns:a="http://schemas.openxmlformats.org/drawingml/2006/main" w="28575">
            <a:solidFill>
              <a:srgbClr val="8A5CF5"/>
            </a:solidFill>
            <a:prstDash val="solid"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e91a7001c4ab4">
            <a:extLst>
              <a:ext uri="{96DAC541-7B7A-43D3-8B79-37D633B846F1}">
                <asvg:svgBlip xmlns:asvg="http://schemas.microsoft.com/office/drawing/2016/SVG/main" r:embed="R6f1aa2a7b9d34c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81900" y="1962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E48E3EA4-F4BD-44F5-8E7F-83304FA8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5C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5CF5"/>
                </a:solidFill>
                <a:latin typeface="Arial"/>
                <a:ea typeface="Arial"/>
                <a:cs typeface="Arial"/>
              </a:rPr>
              <a:t>WorkSpaces VPC  192.168.226.0/23</a:t>
            </a:r>
          </a:p>
        </p:txBody>
      </p:sp>
      <p:sp>
        <p:nvSpPr>
          <p:cNvPr id="40" name="workspaces-az-a">
            <a:extLst xmlns:a="http://schemas.openxmlformats.org/drawingml/2006/main">
              <a:ext uri="{FF2B5EF4-FFF2-40B4-BE49-F238E27FC236}">
                <a16:creationId xmlns:a16="http://schemas.microsoft.com/office/drawing/2014/main" id="{C18BF695-5AD1-4D70-B3C7-BE1817BB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A4A6"/>
            </a:solidFill>
            <a:prstDash val="dash"/>
          </a:ln>
        </p:spPr>
      </p:sp>
      <p:sp>
        <p:nvSpPr>
          <p:cNvPr id="41" name="workspaces-az-a-flag-pole">
            <a:extLst xmlns:a="http://schemas.openxmlformats.org/drawingml/2006/main">
              <a:ext uri="{FF2B5EF4-FFF2-40B4-BE49-F238E27FC236}">
                <a16:creationId xmlns:a16="http://schemas.microsoft.com/office/drawing/2014/main" id="{6ABC75C1-5CDA-498B-A420-C8FDB6A0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4955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orkspaces-az-a-flag">
            <a:extLst xmlns:a="http://schemas.openxmlformats.org/drawingml/2006/main">
              <a:ext uri="{FF2B5EF4-FFF2-40B4-BE49-F238E27FC236}">
                <a16:creationId xmlns:a16="http://schemas.microsoft.com/office/drawing/2014/main" id="{01943CAD-C534-49DE-8F04-73FBE051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38125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4A6"/>
            </a:solidFill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612CE335-1D7B-4471-8884-91C09A3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Availability Zone A</a:t>
            </a:r>
          </a:p>
        </p:txBody>
      </p:sp>
      <p:sp>
        <p:nvSpPr>
          <p:cNvPr id="44" name="workspaces-az-c">
            <a:extLst xmlns:a="http://schemas.openxmlformats.org/drawingml/2006/main">
              <a:ext uri="{FF2B5EF4-FFF2-40B4-BE49-F238E27FC236}">
                <a16:creationId xmlns:a16="http://schemas.microsoft.com/office/drawing/2014/main" id="{6F3392C9-FB87-468E-AE64-865BEE7E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00300"/>
            <a:ext cx="2571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A4A6"/>
            </a:solidFill>
            <a:prstDash val="dash"/>
          </a:ln>
        </p:spPr>
      </p:sp>
      <p:sp>
        <p:nvSpPr>
          <p:cNvPr id="45" name="workspaces-az-c-flag-pole">
            <a:extLst xmlns:a="http://schemas.openxmlformats.org/drawingml/2006/main">
              <a:ext uri="{FF2B5EF4-FFF2-40B4-BE49-F238E27FC236}">
                <a16:creationId xmlns:a16="http://schemas.microsoft.com/office/drawing/2014/main" id="{B0406436-E051-4479-ABFF-5B3CCD45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4955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orkspaces-az-c-flag">
            <a:extLst xmlns:a="http://schemas.openxmlformats.org/drawingml/2006/main">
              <a:ext uri="{FF2B5EF4-FFF2-40B4-BE49-F238E27FC236}">
                <a16:creationId xmlns:a16="http://schemas.microsoft.com/office/drawing/2014/main" id="{DAB44206-B88B-4C44-A83E-72AC91DE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05075"/>
            <a:ext cx="238125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4A6"/>
            </a:solidFill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52C178E7-8DFE-42C9-8E4C-A21E670C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574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Availability Zone C</a:t>
            </a:r>
          </a:p>
        </p:txBody>
      </p:sp>
      <p:sp>
        <p:nvSpPr>
          <p:cNvPr id="48" name="workspaces-private-a">
            <a:extLst xmlns:a="http://schemas.openxmlformats.org/drawingml/2006/main">
              <a:ext uri="{FF2B5EF4-FFF2-40B4-BE49-F238E27FC236}">
                <a16:creationId xmlns:a16="http://schemas.microsoft.com/office/drawing/2014/main" id="{4F374B34-D991-484C-921A-1A590B42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B"/>
          </a:solidFill>
          <a:ln xmlns:a="http://schemas.openxmlformats.org/drawingml/2006/main" w="23813">
            <a:solidFill>
              <a:srgbClr val="00A4A6"/>
            </a:solidFill>
            <a:prstDash val="dash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59b6bba3b49bc">
            <a:extLst>
              <a:ext uri="{96DAC541-7B7A-43D3-8B79-37D633B846F1}">
                <asvg:svgBlip xmlns:asvg="http://schemas.microsoft.com/office/drawing/2016/SVG/main" r:embed="Rb5dfc729fc3d47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29241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8DCBA3B6-1D7A-4B6E-A3B0-78EE2F24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4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4A6"/>
                </a:solidFill>
                <a:latin typeface="Arial"/>
                <a:ea typeface="Arial"/>
                <a:cs typeface="Arial"/>
              </a:rPr>
              <a:t>Private Subnet A</a:t>
            </a:r>
          </a:p>
        </p:txBody>
      </p:sp>
      <p:sp>
        <p:nvSpPr>
          <p:cNvPr id="51" name="workspaces-private-c">
            <a:extLst xmlns:a="http://schemas.openxmlformats.org/drawingml/2006/main">
              <a:ext uri="{FF2B5EF4-FFF2-40B4-BE49-F238E27FC236}">
                <a16:creationId xmlns:a16="http://schemas.microsoft.com/office/drawing/2014/main" id="{88EAF62C-0902-426B-BBB7-21F946AA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85750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B"/>
          </a:solidFill>
          <a:ln xmlns:a="http://schemas.openxmlformats.org/drawingml/2006/main" w="23813">
            <a:solidFill>
              <a:srgbClr val="00A4A6"/>
            </a:solidFill>
            <a:prstDash val="dash"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d15c7061c458d">
            <a:extLst>
              <a:ext uri="{96DAC541-7B7A-43D3-8B79-37D633B846F1}">
                <asvg:svgBlip xmlns:asvg="http://schemas.microsoft.com/office/drawing/2016/SVG/main" r:embed="R08b051b3583c42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15625" y="29241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9B91D0A9-3D86-4CE2-B404-27EE1834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051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4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4A6"/>
                </a:solidFill>
                <a:latin typeface="Arial"/>
                <a:ea typeface="Arial"/>
                <a:cs typeface="Arial"/>
              </a:rPr>
              <a:t>Private Subnet C</a:t>
            </a:r>
          </a:p>
        </p:txBody>
      </p:sp>
      <p:sp>
        <p:nvSpPr>
          <p:cNvPr id="54" name="workspaces-public-a">
            <a:extLst xmlns:a="http://schemas.openxmlformats.org/drawingml/2006/main">
              <a:ext uri="{FF2B5EF4-FFF2-40B4-BE49-F238E27FC236}">
                <a16:creationId xmlns:a16="http://schemas.microsoft.com/office/drawing/2014/main" id="{A8E8E4CA-A328-4BC9-B1A6-DD717B4B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19700"/>
            <a:ext cx="2266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EF"/>
          </a:solidFill>
          <a:ln xmlns:a="http://schemas.openxmlformats.org/drawingml/2006/main" w="23813">
            <a:solidFill>
              <a:srgbClr val="7AA116"/>
            </a:solidFill>
            <a:prstDash val="dash"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e777d5f1c49d8">
            <a:extLst>
              <a:ext uri="{96DAC541-7B7A-43D3-8B79-37D633B846F1}">
                <asvg:svgBlip xmlns:asvg="http://schemas.microsoft.com/office/drawing/2016/SVG/main" r:embed="R7a7de9bd6d6c4f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52863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0E77F17E-D9E0-42CF-885C-1A481EB9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673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A1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A116"/>
                </a:solidFill>
                <a:latin typeface="Arial"/>
                <a:ea typeface="Arial"/>
                <a:cs typeface="Arial"/>
              </a:rPr>
              <a:t>Public Subnet A</a:t>
            </a:r>
          </a:p>
        </p:txBody>
      </p:sp>
      <p:sp>
        <p:nvSpPr>
          <p:cNvPr id="57" name="workspaces-public-c">
            <a:extLst xmlns:a="http://schemas.openxmlformats.org/drawingml/2006/main">
              <a:ext uri="{FF2B5EF4-FFF2-40B4-BE49-F238E27FC236}">
                <a16:creationId xmlns:a16="http://schemas.microsoft.com/office/drawing/2014/main" id="{8914E192-46D5-4E65-BE30-8F0300D0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219700"/>
            <a:ext cx="2266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EF"/>
          </a:solidFill>
          <a:ln xmlns:a="http://schemas.openxmlformats.org/drawingml/2006/main" w="23813">
            <a:solidFill>
              <a:srgbClr val="7AA116"/>
            </a:solidFill>
            <a:prstDash val="dash"/>
          </a:ln>
        </p:spPr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2b56b94bb47a3">
            <a:extLst>
              <a:ext uri="{96DAC541-7B7A-43D3-8B79-37D633B846F1}">
                <asvg:svgBlip xmlns:asvg="http://schemas.microsoft.com/office/drawing/2016/SVG/main" r:embed="R02625ffcbf9a4a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15625" y="52863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33B6C4AE-D245-473D-8F37-0EC6E4E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673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A1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A116"/>
                </a:solidFill>
                <a:latin typeface="Arial"/>
                <a:ea typeface="Arial"/>
                <a:cs typeface="Arial"/>
              </a:rPr>
              <a:t>Public Subnet C</a:t>
            </a:r>
          </a:p>
        </p:txBody>
      </p:sp>
      <p:sp>
        <p:nvSpPr>
          <p:cNvPr id="60" name="ad-connector-1">
            <a:extLst xmlns:a="http://schemas.openxmlformats.org/drawingml/2006/main">
              <a:ext uri="{FF2B5EF4-FFF2-40B4-BE49-F238E27FC236}">
                <a16:creationId xmlns:a16="http://schemas.microsoft.com/office/drawing/2014/main" id="{463A6B59-3DFC-4244-9694-012C211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52800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2B4A"/>
            </a:solidFill>
            <a:prstDash val="solid"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41a2d64bd4835">
            <a:extLst>
              <a:ext uri="{96DAC541-7B7A-43D3-8B79-37D633B846F1}">
                <asvg:svgBlip xmlns:asvg="http://schemas.microsoft.com/office/drawing/2016/SVG/main" r:embed="Redd510338e6543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24825" y="3448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0EDD36AC-4380-4E86-A80C-163AA573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0425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 Connector 1</a:t>
            </a:r>
          </a:p>
        </p:txBody>
      </p:sp>
      <p:sp>
        <p:nvSpPr>
          <p:cNvPr id="63" name="ad-connector-2">
            <a:extLst xmlns:a="http://schemas.openxmlformats.org/drawingml/2006/main">
              <a:ext uri="{FF2B5EF4-FFF2-40B4-BE49-F238E27FC236}">
                <a16:creationId xmlns:a16="http://schemas.microsoft.com/office/drawing/2014/main" id="{E29E5B69-71F2-40E7-9986-3C9D90D8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52800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2B4A"/>
            </a:solidFill>
            <a:prstDash val="solid"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ade2dd4a741dd">
            <a:extLst>
              <a:ext uri="{96DAC541-7B7A-43D3-8B79-37D633B846F1}">
                <asvg:svgBlip xmlns:asvg="http://schemas.microsoft.com/office/drawing/2016/SVG/main" r:embed="Ra7346d87fac94f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87075" y="3448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074F3822-06D8-45E7-9818-CAB3342B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400425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 Connector 2</a:t>
            </a:r>
          </a:p>
        </p:txBody>
      </p:sp>
      <p:sp>
        <p:nvSpPr>
          <p:cNvPr id="66" name="workspaces-1">
            <a:extLst xmlns:a="http://schemas.openxmlformats.org/drawingml/2006/main">
              <a:ext uri="{FF2B5EF4-FFF2-40B4-BE49-F238E27FC236}">
                <a16:creationId xmlns:a16="http://schemas.microsoft.com/office/drawing/2014/main" id="{B16C1026-ACA8-484C-A970-902147F4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10050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8F"/>
            </a:solidFill>
            <a:prstDash val="solid"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9a55113064d07">
            <a:extLst>
              <a:ext uri="{96DAC541-7B7A-43D3-8B79-37D633B846F1}">
                <asvg:svgBlip xmlns:asvg="http://schemas.microsoft.com/office/drawing/2016/SVG/main" r:embed="Rcc8da355bf7a46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24825" y="43053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03756E5F-F53B-42DE-AC4C-360B7B66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5767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WorkSpaces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90CA8F8C-13F6-43C4-A491-47165F3E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32376"/>
            <a:ext cx="1200150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Personal / DCV</a:t>
            </a:r>
          </a:p>
        </p:txBody>
      </p:sp>
      <p:sp>
        <p:nvSpPr>
          <p:cNvPr id="70" name="workspaces-2">
            <a:extLst xmlns:a="http://schemas.openxmlformats.org/drawingml/2006/main">
              <a:ext uri="{FF2B5EF4-FFF2-40B4-BE49-F238E27FC236}">
                <a16:creationId xmlns:a16="http://schemas.microsoft.com/office/drawing/2014/main" id="{721C4CF5-B9EF-4264-80CB-05036A1D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10050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8F"/>
            </a:solidFill>
            <a:prstDash val="solid"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c1ec3ec5c4d3e">
            <a:extLst>
              <a:ext uri="{96DAC541-7B7A-43D3-8B79-37D633B846F1}">
                <asvg:svgBlip xmlns:asvg="http://schemas.microsoft.com/office/drawing/2016/SVG/main" r:embed="R77c53622849f4d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87075" y="43053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CBAC7569-3568-4E65-9CCB-000FAB70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257675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WorkSpaces</a:t>
            </a:r>
          </a:p>
        </p:txBody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7A245D53-4873-44DC-A465-E7272C5A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532376"/>
            <a:ext cx="1200150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Personal / DCV</a:t>
            </a:r>
          </a:p>
        </p:txBody>
      </p:sp>
      <p:sp>
        <p:nvSpPr>
          <p:cNvPr id="74" name="nat-gateway-1">
            <a:extLst xmlns:a="http://schemas.openxmlformats.org/drawingml/2006/main">
              <a:ext uri="{FF2B5EF4-FFF2-40B4-BE49-F238E27FC236}">
                <a16:creationId xmlns:a16="http://schemas.microsoft.com/office/drawing/2014/main" id="{00711282-962E-4F75-9B03-8821C696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91150"/>
            <a:ext cx="1924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A5CF5"/>
            </a:solidFill>
            <a:prstDash val="solid"/>
          </a:ln>
        </p:spPr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48525bc35484c">
            <a:extLst>
              <a:ext uri="{96DAC541-7B7A-43D3-8B79-37D633B846F1}">
                <asvg:svgBlip xmlns:asvg="http://schemas.microsoft.com/office/drawing/2016/SVG/main" r:embed="Rd6683f81dcfd43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24825" y="54673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E6A5783E-C930-407B-A365-610A1FBC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38775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NAT Gateway</a:t>
            </a:r>
          </a:p>
        </p:txBody>
      </p:sp>
      <p:sp>
        <p:nvSpPr>
          <p:cNvPr id="77" name="nat-gateway-2">
            <a:extLst xmlns:a="http://schemas.openxmlformats.org/drawingml/2006/main">
              <a:ext uri="{FF2B5EF4-FFF2-40B4-BE49-F238E27FC236}">
                <a16:creationId xmlns:a16="http://schemas.microsoft.com/office/drawing/2014/main" id="{F27F8DC9-8E6E-4FDA-8B93-BBD3DBED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391150"/>
            <a:ext cx="1924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A5CF5"/>
            </a:solidFill>
            <a:prstDash val="solid"/>
          </a:ln>
        </p:spPr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e4a27f6b34f32">
            <a:extLst>
              <a:ext uri="{96DAC541-7B7A-43D3-8B79-37D633B846F1}">
                <asvg:svgBlip xmlns:asvg="http://schemas.microsoft.com/office/drawing/2016/SVG/main" r:embed="R1b016e35b48549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87075" y="54673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E9ABEFBA-74DC-41B2-A467-F210494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438775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NAT Gateway</a:t>
            </a:r>
          </a:p>
        </p:txBody>
      </p:sp>
      <p:cxnSp>
        <p:nvCxnSpPr>
          <p:cNvPr id="183" name=""/>
          <p:cNvCxnSpPr>
            <a:stCxn xmlns:a="http://schemas.openxmlformats.org/drawingml/2006/main" id="8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229350" y="4314825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9900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81" name="vpc-peering">
            <a:extLst xmlns:a="http://schemas.openxmlformats.org/drawingml/2006/main">
              <a:ext uri="{FF2B5EF4-FFF2-40B4-BE49-F238E27FC236}">
                <a16:creationId xmlns:a16="http://schemas.microsoft.com/office/drawing/2014/main" id="{49689AD0-37FF-4C80-9B3D-E739BD04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95725"/>
            <a:ext cx="666750" cy="8382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F9900"/>
            </a:solidFill>
            <a:prstDash val="solid"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b7c4db8f849d2">
            <a:extLst>
              <a:ext uri="{96DAC541-7B7A-43D3-8B79-37D633B846F1}">
                <asvg:svgBlip xmlns:asvg="http://schemas.microsoft.com/office/drawing/2016/SVG/main" r:embed="R23546fa53add4a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57975" y="398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83" name="text">
            <a:extLst xmlns:a="http://schemas.openxmlformats.org/drawingml/2006/main">
              <a:ext uri="{FF2B5EF4-FFF2-40B4-BE49-F238E27FC236}">
                <a16:creationId xmlns:a16="http://schemas.microsoft.com/office/drawing/2014/main" id="{BC921BB1-D4BD-40B1-B491-5F133183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291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97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A341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3412"/>
                </a:solidFill>
                <a:latin typeface="Arial"/>
                <a:ea typeface="Arial"/>
                <a:cs typeface="Arial"/>
              </a:rPr>
              <a:t>VPC Peering</a:t>
            </a:r>
          </a:p>
        </p:txBody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28E3E849-1022-4CF3-A6DE-2040781D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814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3412"/>
                </a:solidFill>
                <a:latin typeface="Arial"/>
                <a:ea typeface="Arial"/>
                <a:cs typeface="Arial"/>
              </a:rPr>
              <a:t>認証・DNS</a:t>
            </a:r>
          </a:p>
        </p:txBody>
      </p:sp>
      <p:cxnSp>
        <p:nvCxnSpPr>
          <p:cNvPr id="188" name=""/>
          <p:cNvCxnSpPr>
            <a:stCxn xmlns:a="http://schemas.openxmlformats.org/drawingml/2006/main" id="66" idx="0"/>
            <a:endCxn xmlns:a="http://schemas.openxmlformats.org/drawingml/2006/main" id="60" idx="2"/>
          </p:cNvCxnSpPr>
          <p:nvPr/>
        </p:nvCxnSpPr>
        <p:spPr>
          <a:xfrm xmlns:a="http://schemas.openxmlformats.org/drawingml/2006/main" flipV="1">
            <a:off x="9001125" y="40386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7EBA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89" name=""/>
          <p:cNvCxnSpPr>
            <a:stCxn xmlns:a="http://schemas.openxmlformats.org/drawingml/2006/main" id="70" idx="0"/>
            <a:endCxn xmlns:a="http://schemas.openxmlformats.org/drawingml/2006/main" id="63" idx="2"/>
          </p:cNvCxnSpPr>
          <p:nvPr/>
        </p:nvCxnSpPr>
        <p:spPr>
          <a:xfrm xmlns:a="http://schemas.openxmlformats.org/drawingml/2006/main" flipV="1">
            <a:off x="11763375" y="40386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7EBA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0" name=""/>
          <p:cNvCxnSpPr>
            <a:stCxn xmlns:a="http://schemas.openxmlformats.org/drawingml/2006/main" id="66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9001125" y="48958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A34A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1" name=""/>
          <p:cNvCxnSpPr>
            <a:stCxn xmlns:a="http://schemas.openxmlformats.org/drawingml/2006/main" id="70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11763375" y="48958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A34A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9" name="internet-gateway">
            <a:extLst xmlns:a="http://schemas.openxmlformats.org/drawingml/2006/main">
              <a:ext uri="{FF2B5EF4-FFF2-40B4-BE49-F238E27FC236}">
                <a16:creationId xmlns:a16="http://schemas.microsoft.com/office/drawing/2014/main" id="{70050548-7904-4AD4-A18F-7137260D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838950"/>
            <a:ext cx="990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A5CF5"/>
            </a:solidFill>
            <a:prstDash val="solid"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929a495854450">
            <a:extLst>
              <a:ext uri="{96DAC541-7B7A-43D3-8B79-37D633B846F1}">
                <asvg:svgBlip xmlns:asvg="http://schemas.microsoft.com/office/drawing/2016/SVG/main" r:embed="R5de7c4860df94e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48875" y="68865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91" name="text">
            <a:extLst xmlns:a="http://schemas.openxmlformats.org/drawingml/2006/main">
              <a:ext uri="{FF2B5EF4-FFF2-40B4-BE49-F238E27FC236}">
                <a16:creationId xmlns:a16="http://schemas.microsoft.com/office/drawing/2014/main" id="{30529CFB-C6D6-4507-85C8-BCDE11DE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315200"/>
            <a:ext cx="838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5CF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5CF5"/>
                </a:solidFill>
                <a:latin typeface="Arial"/>
                <a:ea typeface="Arial"/>
                <a:cs typeface="Arial"/>
              </a:rPr>
              <a:t>Internet Gateway</a:t>
            </a:r>
          </a:p>
        </p:txBody>
      </p:sp>
      <p:cxnSp>
        <p:nvCxnSpPr>
          <p:cNvPr id="195" name=""/>
          <p:cNvCxnSpPr>
            <a:stCxn xmlns:a="http://schemas.openxmlformats.org/drawingml/2006/main" id="74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9001125" y="5924550"/>
            <a:ext cx="1343025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6A34A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6" name=""/>
          <p:cNvCxnSpPr>
            <a:stCxn xmlns:a="http://schemas.openxmlformats.org/drawingml/2006/main" id="77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 flipH="1">
            <a:off x="10344150" y="5924550"/>
            <a:ext cx="1419225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6A34A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94" name="internet">
            <a:extLst xmlns:a="http://schemas.openxmlformats.org/drawingml/2006/main">
              <a:ext uri="{FF2B5EF4-FFF2-40B4-BE49-F238E27FC236}">
                <a16:creationId xmlns:a16="http://schemas.microsoft.com/office/drawing/2014/main" id="{4455A61C-E1E5-4FA7-B875-BF3A3586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962775"/>
            <a:ext cx="8953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95" name="text">
            <a:extLst xmlns:a="http://schemas.openxmlformats.org/drawingml/2006/main">
              <a:ext uri="{FF2B5EF4-FFF2-40B4-BE49-F238E27FC236}">
                <a16:creationId xmlns:a16="http://schemas.microsoft.com/office/drawing/2014/main" id="{868B4826-3F19-4AB3-A87C-5506C45F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0389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71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cxnSp>
        <p:nvCxnSpPr>
          <p:cNvPr id="199" name=""/>
          <p:cNvCxnSpPr>
            <a:stCxn xmlns:a="http://schemas.openxmlformats.org/drawingml/2006/main" id="89" idx="3"/>
            <a:endCxn xmlns:a="http://schemas.openxmlformats.org/drawingml/2006/main" id="94" idx="2"/>
          </p:cNvCxnSpPr>
          <p:nvPr/>
        </p:nvCxnSpPr>
        <p:spPr>
          <a:xfrm xmlns:a="http://schemas.openxmlformats.org/drawingml/2006/main">
            <a:off x="10839450" y="7181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A34A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97" name="text">
            <a:extLst xmlns:a="http://schemas.openxmlformats.org/drawingml/2006/main">
              <a:ext uri="{FF2B5EF4-FFF2-40B4-BE49-F238E27FC236}">
                <a16:creationId xmlns:a16="http://schemas.microsoft.com/office/drawing/2014/main" id="{04346DD3-F4E5-4B50-B9B7-9C1855CE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72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インターネット向け通信</a:t>
            </a:r>
          </a:p>
        </p:txBody>
      </p:sp>
      <p:sp>
        <p:nvSpPr>
          <p:cNvPr id="98" name="systems-manager">
            <a:extLst xmlns:a="http://schemas.openxmlformats.org/drawingml/2006/main">
              <a:ext uri="{FF2B5EF4-FFF2-40B4-BE49-F238E27FC236}">
                <a16:creationId xmlns:a16="http://schemas.microsoft.com/office/drawing/2014/main" id="{9470C648-7656-415D-BAD2-CF3F12A8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896100"/>
            <a:ext cx="276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007A"/>
            </a:solidFill>
            <a:prstDash val="solid"/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5a7531bed49d0">
            <a:extLst>
              <a:ext uri="{96DAC541-7B7A-43D3-8B79-37D633B846F1}">
                <asvg:svgBlip xmlns:asvg="http://schemas.microsoft.com/office/drawing/2016/SVG/main" r:embed="R2ab08e60994e44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9625" y="69913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100" name="text">
            <a:extLst xmlns:a="http://schemas.openxmlformats.org/drawingml/2006/main">
              <a:ext uri="{FF2B5EF4-FFF2-40B4-BE49-F238E27FC236}">
                <a16:creationId xmlns:a16="http://schemas.microsoft.com/office/drawing/2014/main" id="{D71E41C4-29E5-4991-885D-41A9C49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9437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Systems Manager</a:t>
            </a:r>
          </a:p>
        </p:txBody>
      </p:sp>
      <p:sp>
        <p:nvSpPr>
          <p:cNvPr id="101" name="text">
            <a:extLst xmlns:a="http://schemas.openxmlformats.org/drawingml/2006/main">
              <a:ext uri="{FF2B5EF4-FFF2-40B4-BE49-F238E27FC236}">
                <a16:creationId xmlns:a16="http://schemas.microsoft.com/office/drawing/2014/main" id="{66C2AE1E-3DBB-46BC-A3F9-A90E6E02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7218426"/>
            <a:ext cx="2038350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71"/>
                </a:solidFill>
                <a:latin typeface="Arial"/>
                <a:ea typeface="Arial"/>
                <a:cs typeface="Arial"/>
              </a:rPr>
              <a:t>Fleet Manager / Patch Manager</a:t>
            </a:r>
          </a:p>
        </p:txBody>
      </p:sp>
      <p:cxnSp>
        <p:nvCxnSpPr>
          <p:cNvPr id="205" name=""/>
          <p:cNvCxnSpPr>
            <a:stCxn xmlns:a="http://schemas.openxmlformats.org/drawingml/2006/main" id="98" idx="0"/>
            <a:endCxn xmlns:a="http://schemas.openxmlformats.org/drawingml/2006/main" id="33" idx="2"/>
          </p:cNvCxnSpPr>
          <p:nvPr/>
        </p:nvCxnSpPr>
        <p:spPr>
          <a:xfrm xmlns:a="http://schemas.openxmlformats.org/drawingml/2006/main" flipH="1" flipV="1">
            <a:off x="2105025" y="5657850"/>
            <a:ext cx="3810000" cy="1238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7C3AED"/>
            </a:solidFill>
            <a:prstDash val="dash"/>
            <a:headEnd type="arrow" w="med" len="med"/>
            <a:tailEnd type="arrow" w="med" len="med"/>
          </a:ln>
        </p:spPr>
      </p:cxnSp>
      <p:sp>
        <p:nvSpPr>
          <p:cNvPr id="103" name="text">
            <a:extLst xmlns:a="http://schemas.openxmlformats.org/drawingml/2006/main">
              <a:ext uri="{FF2B5EF4-FFF2-40B4-BE49-F238E27FC236}">
                <a16:creationId xmlns:a16="http://schemas.microsoft.com/office/drawing/2014/main" id="{8A67CE64-3F59-49DB-AF44-5B470915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591425"/>
            <a:ext cx="1304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① Directory Service  ② 管理用EC2  ③ VPC Peering・権限委任  ④ AD Connector  ⑤ WorkSpaces・GPO  ⑥ NAT経由の外向き通信  ⑦ パッチ運用</a:t>
            </a:r>
          </a:p>
        </p:txBody>
      </p:sp>
    </p:spTree>
    <p:extLst>
      <p:ext uri="{BB962C8B-B14F-4D97-AF65-F5344CB8AC3E}">
        <p14:creationId xmlns:p14="http://schemas.microsoft.com/office/powerpoint/2010/main" val="1785189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2026-09-08T04:08:43.6560000Z</dcterms:created>
  <dcterms:modified xsi:type="dcterms:W3CDTF">2026-09-08T04:08:43.6560000Z</dcterms:modified>
</coreProperties>
</file>